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7" r:id="rId11"/>
    <p:sldId id="266"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ACE2-9EA3-678E-BD1F-6B44C105C5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B51AFE-527E-475D-B0A2-93EB9A807A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D09542-0898-70DE-C32C-FB31A259F376}"/>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5" name="Footer Placeholder 4">
            <a:extLst>
              <a:ext uri="{FF2B5EF4-FFF2-40B4-BE49-F238E27FC236}">
                <a16:creationId xmlns:a16="http://schemas.microsoft.com/office/drawing/2014/main" id="{9B791881-BD4A-849B-1286-61CD24060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BB165-CB90-40EE-141D-107ABD15E335}"/>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969289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0722-B3EF-D02E-0639-A6226F4614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189509-56B7-44FB-5DC7-C9FC8159C8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D353A-9322-F65D-4FC9-CEB62C019000}"/>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5" name="Footer Placeholder 4">
            <a:extLst>
              <a:ext uri="{FF2B5EF4-FFF2-40B4-BE49-F238E27FC236}">
                <a16:creationId xmlns:a16="http://schemas.microsoft.com/office/drawing/2014/main" id="{CB5E9188-C4A4-5D92-8B5D-65692CDFB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96EC57-CC7C-83CA-5A05-8DCBA2D92C3A}"/>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92452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01C51-3858-3350-B2A3-CC851A0D12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EFC40E-981E-C75D-52AF-63AA12D1D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C7588B-AF75-B96C-6B75-24525C337538}"/>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5" name="Footer Placeholder 4">
            <a:extLst>
              <a:ext uri="{FF2B5EF4-FFF2-40B4-BE49-F238E27FC236}">
                <a16:creationId xmlns:a16="http://schemas.microsoft.com/office/drawing/2014/main" id="{D07EFC10-1CE0-2C8D-B3F9-78CE72E66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392F3-E6D8-2D67-458E-D75D324AB66A}"/>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117077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71230-F377-7483-A640-65E8476218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128CCC-946C-BD97-9042-85D6AF7978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6ECBC1-B830-4563-4356-2037CC7EEF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1C63D0-8B9A-841A-300F-2951B8EA389D}"/>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6" name="Footer Placeholder 5">
            <a:extLst>
              <a:ext uri="{FF2B5EF4-FFF2-40B4-BE49-F238E27FC236}">
                <a16:creationId xmlns:a16="http://schemas.microsoft.com/office/drawing/2014/main" id="{F875F5D6-309A-860E-08CD-D243836450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351A92-56EC-BC69-339B-4AC620F39526}"/>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2614610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FB061-157E-3A89-00BE-195E96AE85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C60476-F78A-6CD5-9281-3814D44B8D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183EA-086B-6D2B-0121-8B752ED4AE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F5F278-93DA-379F-62D8-4D1ACE9784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C4D7A2-707D-BFF1-EE59-6F25634183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255012-F917-0ED0-4CCC-4C69D56696B7}"/>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8" name="Footer Placeholder 7">
            <a:extLst>
              <a:ext uri="{FF2B5EF4-FFF2-40B4-BE49-F238E27FC236}">
                <a16:creationId xmlns:a16="http://schemas.microsoft.com/office/drawing/2014/main" id="{3FACC4EC-0113-CDCE-E305-E7710BF755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F205C4-4BFF-9937-1D75-0E5D1775BFA9}"/>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1766580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EAF3-1A78-5F2C-6F2C-7E10881403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4F1941-65CB-92E3-72AE-A37DE814EF71}"/>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4" name="Footer Placeholder 3">
            <a:extLst>
              <a:ext uri="{FF2B5EF4-FFF2-40B4-BE49-F238E27FC236}">
                <a16:creationId xmlns:a16="http://schemas.microsoft.com/office/drawing/2014/main" id="{798592EF-642C-1754-0A08-53AC615C00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57BE60-FCE8-9549-5813-159A90B3CB86}"/>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2944170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D65639-107D-133E-BA9B-4A07DD8AB269}"/>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3" name="Footer Placeholder 2">
            <a:extLst>
              <a:ext uri="{FF2B5EF4-FFF2-40B4-BE49-F238E27FC236}">
                <a16:creationId xmlns:a16="http://schemas.microsoft.com/office/drawing/2014/main" id="{CC688EFA-E08F-F496-B7E2-50A5F8D584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E5819B-7272-BB53-9E35-A973F7FEECBC}"/>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1928213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DC392-C79F-841D-C81D-6199045CE7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0683CF-3157-579C-1E29-0C428A7CF2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EBFFEA-FDD9-0061-AE29-20300FC952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461B3F-EE53-41C5-DA93-B185D5BEB01D}"/>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6" name="Footer Placeholder 5">
            <a:extLst>
              <a:ext uri="{FF2B5EF4-FFF2-40B4-BE49-F238E27FC236}">
                <a16:creationId xmlns:a16="http://schemas.microsoft.com/office/drawing/2014/main" id="{9AEEBCBC-6E1C-7BAC-0C7A-BEFBFCA5DC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40615E-989A-CB5E-026B-97F0EC0EECEB}"/>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49902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6B47E-F0EB-1D21-1F19-C2A1CA631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6F491C-94E3-5D3A-0F6A-D234C3398D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258826-BB55-FC26-F1AA-A8753AAB7D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E601D-8AB0-2814-1D1C-144E9C3DCAED}"/>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6" name="Footer Placeholder 5">
            <a:extLst>
              <a:ext uri="{FF2B5EF4-FFF2-40B4-BE49-F238E27FC236}">
                <a16:creationId xmlns:a16="http://schemas.microsoft.com/office/drawing/2014/main" id="{7B3664FA-4042-2FD4-D56F-964F7E68DE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FAA72C-FEF2-F01F-0901-5154C8DEB23D}"/>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1449236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BCDFC-D2C6-185F-6934-D00FA89332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77F4E5-614B-ADB7-0EDD-DACF6608E6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44F030-72DF-A280-7D39-A70CA455A4FF}"/>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5" name="Footer Placeholder 4">
            <a:extLst>
              <a:ext uri="{FF2B5EF4-FFF2-40B4-BE49-F238E27FC236}">
                <a16:creationId xmlns:a16="http://schemas.microsoft.com/office/drawing/2014/main" id="{B96C0131-5521-D2D7-67C1-F5B945C119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2AB13-8661-F9B8-517C-1DFB9042FAA2}"/>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1836281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CDE192-5FE4-0809-E1BA-73B1519911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CD7987-257D-37FE-56F7-CDDED91387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0253A-3928-3B12-ADFA-E2ECA385A1A5}"/>
              </a:ext>
            </a:extLst>
          </p:cNvPr>
          <p:cNvSpPr>
            <a:spLocks noGrp="1"/>
          </p:cNvSpPr>
          <p:nvPr>
            <p:ph type="dt" sz="half" idx="10"/>
          </p:nvPr>
        </p:nvSpPr>
        <p:spPr/>
        <p:txBody>
          <a:bodyPr/>
          <a:lstStyle/>
          <a:p>
            <a:fld id="{C9FC73AF-7CFE-4F92-8E08-058122FEF95B}" type="datetimeFigureOut">
              <a:rPr lang="en-US" smtClean="0"/>
              <a:t>10/31/2025</a:t>
            </a:fld>
            <a:endParaRPr lang="en-US"/>
          </a:p>
        </p:txBody>
      </p:sp>
      <p:sp>
        <p:nvSpPr>
          <p:cNvPr id="5" name="Footer Placeholder 4">
            <a:extLst>
              <a:ext uri="{FF2B5EF4-FFF2-40B4-BE49-F238E27FC236}">
                <a16:creationId xmlns:a16="http://schemas.microsoft.com/office/drawing/2014/main" id="{9E258907-F124-B531-C9C0-48CB91613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37705B-45C4-F2DB-7703-0CF1BE563DBB}"/>
              </a:ext>
            </a:extLst>
          </p:cNvPr>
          <p:cNvSpPr>
            <a:spLocks noGrp="1"/>
          </p:cNvSpPr>
          <p:nvPr>
            <p:ph type="sldNum" sz="quarter" idx="12"/>
          </p:nvPr>
        </p:nvSpPr>
        <p:spPr/>
        <p:txBody>
          <a:bodyPr/>
          <a:lstStyle/>
          <a:p>
            <a:fld id="{4FF9B6B4-6666-4D3B-A915-BFF932760883}" type="slidenum">
              <a:rPr lang="en-US" smtClean="0"/>
              <a:t>‹#›</a:t>
            </a:fld>
            <a:endParaRPr lang="en-US"/>
          </a:p>
        </p:txBody>
      </p:sp>
    </p:spTree>
    <p:extLst>
      <p:ext uri="{BB962C8B-B14F-4D97-AF65-F5344CB8AC3E}">
        <p14:creationId xmlns:p14="http://schemas.microsoft.com/office/powerpoint/2010/main" val="3925690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49B3EE-887A-CC12-F213-E6E6B3B7BF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264AC2-40E0-0825-EB39-BD5C454AA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79C7C9-FA19-5471-2C86-916916B10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FC73AF-7CFE-4F92-8E08-058122FEF95B}" type="datetimeFigureOut">
              <a:rPr lang="en-US" smtClean="0"/>
              <a:t>10/31/2025</a:t>
            </a:fld>
            <a:endParaRPr lang="en-US"/>
          </a:p>
        </p:txBody>
      </p:sp>
      <p:sp>
        <p:nvSpPr>
          <p:cNvPr id="5" name="Footer Placeholder 4">
            <a:extLst>
              <a:ext uri="{FF2B5EF4-FFF2-40B4-BE49-F238E27FC236}">
                <a16:creationId xmlns:a16="http://schemas.microsoft.com/office/drawing/2014/main" id="{7DEB7B55-DA40-FF16-D2AF-453ED1A763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FEB8AB-1B25-A056-EF47-69A342DA77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F9B6B4-6666-4D3B-A915-BFF932760883}" type="slidenum">
              <a:rPr lang="en-US" smtClean="0"/>
              <a:t>‹#›</a:t>
            </a:fld>
            <a:endParaRPr lang="en-US"/>
          </a:p>
        </p:txBody>
      </p:sp>
    </p:spTree>
    <p:extLst>
      <p:ext uri="{BB962C8B-B14F-4D97-AF65-F5344CB8AC3E}">
        <p14:creationId xmlns:p14="http://schemas.microsoft.com/office/powerpoint/2010/main" val="3274275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38794-680C-F29E-81DB-9D48A69D7022}"/>
              </a:ext>
            </a:extLst>
          </p:cNvPr>
          <p:cNvSpPr>
            <a:spLocks noGrp="1"/>
          </p:cNvSpPr>
          <p:nvPr>
            <p:ph type="ctrTitle"/>
          </p:nvPr>
        </p:nvSpPr>
        <p:spPr>
          <a:xfrm>
            <a:off x="813816" y="1078992"/>
            <a:ext cx="10835640" cy="1728217"/>
          </a:xfrm>
        </p:spPr>
        <p:txBody>
          <a:bodyPr>
            <a:normAutofit fontScale="90000"/>
          </a:bodyPr>
          <a:lstStyle/>
          <a:p>
            <a:r>
              <a:rPr lang="en-US" sz="5400" b="1" dirty="0" err="1"/>
              <a:t>ApexMinds</a:t>
            </a:r>
            <a:r>
              <a:rPr lang="en-US" sz="5400" b="1" dirty="0"/>
              <a:t> Technologies: Human Capital &amp; Employee Compensation Analysis</a:t>
            </a:r>
          </a:p>
        </p:txBody>
      </p:sp>
      <p:sp>
        <p:nvSpPr>
          <p:cNvPr id="3" name="Subtitle 2">
            <a:extLst>
              <a:ext uri="{FF2B5EF4-FFF2-40B4-BE49-F238E27FC236}">
                <a16:creationId xmlns:a16="http://schemas.microsoft.com/office/drawing/2014/main" id="{4524F68F-D99B-98C6-459C-CBF950A54CF3}"/>
              </a:ext>
            </a:extLst>
          </p:cNvPr>
          <p:cNvSpPr>
            <a:spLocks noGrp="1"/>
          </p:cNvSpPr>
          <p:nvPr>
            <p:ph type="subTitle" idx="1"/>
          </p:nvPr>
        </p:nvSpPr>
        <p:spPr>
          <a:xfrm>
            <a:off x="1524000" y="3008376"/>
            <a:ext cx="9887712" cy="2249424"/>
          </a:xfrm>
        </p:spPr>
        <p:txBody>
          <a:bodyPr/>
          <a:lstStyle/>
          <a:p>
            <a:pPr algn="r"/>
            <a:r>
              <a:rPr lang="en-US" b="1" dirty="0"/>
              <a:t>- A Data Analytics Case Study by Anik Chakraborty</a:t>
            </a:r>
          </a:p>
        </p:txBody>
      </p:sp>
    </p:spTree>
    <p:extLst>
      <p:ext uri="{BB962C8B-B14F-4D97-AF65-F5344CB8AC3E}">
        <p14:creationId xmlns:p14="http://schemas.microsoft.com/office/powerpoint/2010/main" val="1003077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CE25AF-7AF8-F2DB-51FA-41BCBB3C009F}"/>
              </a:ext>
            </a:extLst>
          </p:cNvPr>
          <p:cNvSpPr>
            <a:spLocks noGrp="1"/>
          </p:cNvSpPr>
          <p:nvPr>
            <p:ph idx="1"/>
          </p:nvPr>
        </p:nvSpPr>
        <p:spPr>
          <a:xfrm>
            <a:off x="0" y="1234440"/>
            <a:ext cx="12192000" cy="5623560"/>
          </a:xfrm>
        </p:spPr>
        <p:txBody>
          <a:bodyPr>
            <a:normAutofit/>
          </a:bodyPr>
          <a:lstStyle/>
          <a:p>
            <a:r>
              <a:rPr lang="en-US" sz="1500" dirty="0"/>
              <a:t>The objective of this project is to analyze organizational workforce data focusing on employee demographics, tenure, experience, salary, and performance. The goal is to provide actionable insights that enable HR and management to improve workforce planning, performance evaluation, and compensation strategy.</a:t>
            </a:r>
            <a:br>
              <a:rPr lang="en-US" sz="1500" dirty="0"/>
            </a:br>
            <a:r>
              <a:rPr lang="en-US" sz="1500" dirty="0"/>
              <a:t>Goal: To provide a comprehensive, 360-degree view of </a:t>
            </a:r>
            <a:r>
              <a:rPr lang="en-US" sz="1500" dirty="0" err="1"/>
              <a:t>ApexMinds</a:t>
            </a:r>
            <a:r>
              <a:rPr lang="en-US" sz="1500" dirty="0"/>
              <a:t> Technologies' workforce, covering demographics, performance, and compensation.</a:t>
            </a:r>
            <a:br>
              <a:rPr lang="en-US" sz="1500" dirty="0"/>
            </a:br>
            <a:r>
              <a:rPr lang="en-US" sz="1500" dirty="0"/>
              <a:t>Key Objectives:</a:t>
            </a:r>
          </a:p>
          <a:p>
            <a:r>
              <a:rPr lang="en-US" sz="1500" dirty="0"/>
              <a:t>Analyze Headcount &amp; Distribution: Understand employee spread across departments, experience, and age groups.</a:t>
            </a:r>
          </a:p>
          <a:p>
            <a:r>
              <a:rPr lang="en-US" sz="1500" dirty="0"/>
              <a:t>Benchmark Compensation: Assess salary structure against career level, rating, and tenure.</a:t>
            </a:r>
          </a:p>
          <a:p>
            <a:r>
              <a:rPr lang="en-US" sz="1500" dirty="0"/>
              <a:t>Identify Cost Drivers: Pinpoint departments and groups contributing most to the $1 Billion total salary expense.</a:t>
            </a:r>
          </a:p>
          <a:p>
            <a:r>
              <a:rPr lang="en-US" sz="1500" dirty="0"/>
              <a:t>Enable Data-Driven Decisions: Create an interactive dashboard for strategic HR planning and budget allocation.</a:t>
            </a:r>
          </a:p>
        </p:txBody>
      </p:sp>
      <p:sp>
        <p:nvSpPr>
          <p:cNvPr id="4" name="Rectangle 1">
            <a:extLst>
              <a:ext uri="{FF2B5EF4-FFF2-40B4-BE49-F238E27FC236}">
                <a16:creationId xmlns:a16="http://schemas.microsoft.com/office/drawing/2014/main" id="{07E90C6A-AF39-274F-398C-2D18377F9AAD}"/>
              </a:ext>
            </a:extLst>
          </p:cNvPr>
          <p:cNvSpPr>
            <a:spLocks noGrp="1" noChangeArrowheads="1"/>
          </p:cNvSpPr>
          <p:nvPr>
            <p:ph type="title"/>
          </p:nvPr>
        </p:nvSpPr>
        <p:spPr bwMode="auto">
          <a:xfrm>
            <a:off x="0" y="112403"/>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Objective</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07162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D3E66B-DE5F-0498-3F68-A16BB3A6D39E}"/>
              </a:ext>
            </a:extLst>
          </p:cNvPr>
          <p:cNvSpPr>
            <a:spLocks noGrp="1"/>
          </p:cNvSpPr>
          <p:nvPr>
            <p:ph idx="1"/>
          </p:nvPr>
        </p:nvSpPr>
        <p:spPr>
          <a:xfrm>
            <a:off x="0" y="1316736"/>
            <a:ext cx="12192000" cy="5541264"/>
          </a:xfrm>
        </p:spPr>
        <p:txBody>
          <a:bodyPr/>
          <a:lstStyle/>
          <a:p>
            <a:endParaRPr lang="en-US" dirty="0"/>
          </a:p>
        </p:txBody>
      </p:sp>
      <p:sp>
        <p:nvSpPr>
          <p:cNvPr id="4" name="Rectangle 1">
            <a:extLst>
              <a:ext uri="{FF2B5EF4-FFF2-40B4-BE49-F238E27FC236}">
                <a16:creationId xmlns:a16="http://schemas.microsoft.com/office/drawing/2014/main" id="{59F7260A-BA3D-20B4-CEB9-5AC754BBFE84}"/>
              </a:ext>
            </a:extLst>
          </p:cNvPr>
          <p:cNvSpPr>
            <a:spLocks noGrp="1" noChangeArrowheads="1"/>
          </p:cNvSpPr>
          <p:nvPr>
            <p:ph type="title"/>
          </p:nvPr>
        </p:nvSpPr>
        <p:spPr bwMode="auto">
          <a:xfrm>
            <a:off x="0" y="160797"/>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Project Overview</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68241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43E51E-5E9B-1BB4-05BA-556B46A6730D}"/>
              </a:ext>
            </a:extLst>
          </p:cNvPr>
          <p:cNvSpPr>
            <a:spLocks noGrp="1"/>
          </p:cNvSpPr>
          <p:nvPr>
            <p:ph idx="1"/>
          </p:nvPr>
        </p:nvSpPr>
        <p:spPr>
          <a:xfrm>
            <a:off x="0" y="1234440"/>
            <a:ext cx="12192000" cy="5623560"/>
          </a:xfrm>
        </p:spPr>
        <p:txBody>
          <a:bodyPr/>
          <a:lstStyle/>
          <a:p>
            <a:endParaRPr lang="en-US" dirty="0"/>
          </a:p>
        </p:txBody>
      </p:sp>
      <p:sp>
        <p:nvSpPr>
          <p:cNvPr id="4" name="Rectangle 1">
            <a:extLst>
              <a:ext uri="{FF2B5EF4-FFF2-40B4-BE49-F238E27FC236}">
                <a16:creationId xmlns:a16="http://schemas.microsoft.com/office/drawing/2014/main" id="{45EFC504-6386-031B-FF93-BA8CCBF380B6}"/>
              </a:ext>
            </a:extLst>
          </p:cNvPr>
          <p:cNvSpPr>
            <a:spLocks noGrp="1" noChangeArrowheads="1"/>
          </p:cNvSpPr>
          <p:nvPr>
            <p:ph type="title"/>
          </p:nvPr>
        </p:nvSpPr>
        <p:spPr bwMode="auto">
          <a:xfrm>
            <a:off x="0" y="160797"/>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Data Overview &amp; Schema</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559475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EE174-4BE7-55F6-4451-D616B003E4A0}"/>
              </a:ext>
            </a:extLst>
          </p:cNvPr>
          <p:cNvSpPr>
            <a:spLocks noGrp="1"/>
          </p:cNvSpPr>
          <p:nvPr>
            <p:ph idx="1"/>
          </p:nvPr>
        </p:nvSpPr>
        <p:spPr>
          <a:xfrm>
            <a:off x="0" y="1225296"/>
            <a:ext cx="12192000" cy="5632704"/>
          </a:xfrm>
        </p:spPr>
        <p:txBody>
          <a:bodyPr/>
          <a:lstStyle/>
          <a:p>
            <a:endParaRPr lang="en-US" dirty="0"/>
          </a:p>
        </p:txBody>
      </p:sp>
      <p:sp>
        <p:nvSpPr>
          <p:cNvPr id="4" name="Rectangle 1">
            <a:extLst>
              <a:ext uri="{FF2B5EF4-FFF2-40B4-BE49-F238E27FC236}">
                <a16:creationId xmlns:a16="http://schemas.microsoft.com/office/drawing/2014/main" id="{B4D803E6-D0C2-692F-98F4-8BF9F1241FF1}"/>
              </a:ext>
            </a:extLst>
          </p:cNvPr>
          <p:cNvSpPr>
            <a:spLocks noGrp="1" noChangeArrowheads="1"/>
          </p:cNvSpPr>
          <p:nvPr>
            <p:ph type="title"/>
          </p:nvPr>
        </p:nvSpPr>
        <p:spPr bwMode="auto">
          <a:xfrm>
            <a:off x="0" y="115157"/>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Tech Stack</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316570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722F6-F28B-A5B1-B7F7-ACFD2FCC3DBC}"/>
              </a:ext>
            </a:extLst>
          </p:cNvPr>
          <p:cNvSpPr>
            <a:spLocks noGrp="1"/>
          </p:cNvSpPr>
          <p:nvPr>
            <p:ph idx="1"/>
          </p:nvPr>
        </p:nvSpPr>
        <p:spPr>
          <a:xfrm>
            <a:off x="0" y="1161288"/>
            <a:ext cx="12192000" cy="5696712"/>
          </a:xfrm>
        </p:spPr>
        <p:txBody>
          <a:bodyPr/>
          <a:lstStyle/>
          <a:p>
            <a:endParaRPr lang="en-US" dirty="0"/>
          </a:p>
        </p:txBody>
      </p:sp>
      <p:sp>
        <p:nvSpPr>
          <p:cNvPr id="4" name="Rectangle 1">
            <a:extLst>
              <a:ext uri="{FF2B5EF4-FFF2-40B4-BE49-F238E27FC236}">
                <a16:creationId xmlns:a16="http://schemas.microsoft.com/office/drawing/2014/main" id="{F48DD843-13A7-3A9B-674C-D6E73F34B02C}"/>
              </a:ext>
            </a:extLst>
          </p:cNvPr>
          <p:cNvSpPr>
            <a:spLocks noGrp="1" noChangeArrowheads="1"/>
          </p:cNvSpPr>
          <p:nvPr>
            <p:ph type="title"/>
          </p:nvPr>
        </p:nvSpPr>
        <p:spPr bwMode="auto">
          <a:xfrm>
            <a:off x="0" y="160797"/>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Methodology &amp; Analysis</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88858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12EB8-BCD0-6001-184F-635328813686}"/>
              </a:ext>
            </a:extLst>
          </p:cNvPr>
          <p:cNvSpPr>
            <a:spLocks noGrp="1"/>
          </p:cNvSpPr>
          <p:nvPr>
            <p:ph idx="1"/>
          </p:nvPr>
        </p:nvSpPr>
        <p:spPr>
          <a:xfrm>
            <a:off x="0" y="1152144"/>
            <a:ext cx="12192000" cy="5705856"/>
          </a:xfrm>
        </p:spPr>
        <p:txBody>
          <a:bodyPr/>
          <a:lstStyle/>
          <a:p>
            <a:endParaRPr lang="en-US" dirty="0"/>
          </a:p>
        </p:txBody>
      </p:sp>
      <p:sp>
        <p:nvSpPr>
          <p:cNvPr id="4" name="Rectangle 1">
            <a:extLst>
              <a:ext uri="{FF2B5EF4-FFF2-40B4-BE49-F238E27FC236}">
                <a16:creationId xmlns:a16="http://schemas.microsoft.com/office/drawing/2014/main" id="{FC3C95BF-8FBB-6C5B-2EA4-F115CFEAB1C6}"/>
              </a:ext>
            </a:extLst>
          </p:cNvPr>
          <p:cNvSpPr>
            <a:spLocks noGrp="1" noChangeArrowheads="1"/>
          </p:cNvSpPr>
          <p:nvPr>
            <p:ph type="title"/>
          </p:nvPr>
        </p:nvSpPr>
        <p:spPr bwMode="auto">
          <a:xfrm>
            <a:off x="0" y="80399"/>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Problem Statement </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36560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450946-148C-1D4F-41A3-28AAA6E056C2}"/>
              </a:ext>
            </a:extLst>
          </p:cNvPr>
          <p:cNvSpPr>
            <a:spLocks noGrp="1"/>
          </p:cNvSpPr>
          <p:nvPr>
            <p:ph idx="1"/>
          </p:nvPr>
        </p:nvSpPr>
        <p:spPr>
          <a:xfrm>
            <a:off x="0" y="1106424"/>
            <a:ext cx="12192000" cy="5751576"/>
          </a:xfrm>
        </p:spPr>
        <p:txBody>
          <a:bodyPr/>
          <a:lstStyle/>
          <a:p>
            <a:endParaRPr lang="en-US" dirty="0"/>
          </a:p>
        </p:txBody>
      </p:sp>
      <p:sp>
        <p:nvSpPr>
          <p:cNvPr id="4" name="Rectangle 1">
            <a:extLst>
              <a:ext uri="{FF2B5EF4-FFF2-40B4-BE49-F238E27FC236}">
                <a16:creationId xmlns:a16="http://schemas.microsoft.com/office/drawing/2014/main" id="{D8AE1E22-3EA3-4772-96CB-337267D8B21C}"/>
              </a:ext>
            </a:extLst>
          </p:cNvPr>
          <p:cNvSpPr>
            <a:spLocks noGrp="1" noChangeArrowheads="1"/>
          </p:cNvSpPr>
          <p:nvPr>
            <p:ph type="title"/>
          </p:nvPr>
        </p:nvSpPr>
        <p:spPr bwMode="auto">
          <a:xfrm>
            <a:off x="0" y="0"/>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Key Insights</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44046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D719B2-18E1-0F24-3638-5802264CE3A3}"/>
              </a:ext>
            </a:extLst>
          </p:cNvPr>
          <p:cNvSpPr>
            <a:spLocks noGrp="1"/>
          </p:cNvSpPr>
          <p:nvPr>
            <p:ph idx="1"/>
          </p:nvPr>
        </p:nvSpPr>
        <p:spPr>
          <a:xfrm>
            <a:off x="0" y="1371600"/>
            <a:ext cx="12192000" cy="5486400"/>
          </a:xfrm>
        </p:spPr>
        <p:txBody>
          <a:bodyPr/>
          <a:lstStyle/>
          <a:p>
            <a:endParaRPr lang="en-US" dirty="0"/>
          </a:p>
        </p:txBody>
      </p:sp>
      <p:sp>
        <p:nvSpPr>
          <p:cNvPr id="4" name="Rectangle 1">
            <a:extLst>
              <a:ext uri="{FF2B5EF4-FFF2-40B4-BE49-F238E27FC236}">
                <a16:creationId xmlns:a16="http://schemas.microsoft.com/office/drawing/2014/main" id="{623284DD-D2D4-36BA-EBDF-35632A3515BB}"/>
              </a:ext>
            </a:extLst>
          </p:cNvPr>
          <p:cNvSpPr>
            <a:spLocks noGrp="1" noChangeArrowheads="1"/>
          </p:cNvSpPr>
          <p:nvPr>
            <p:ph type="title"/>
          </p:nvPr>
        </p:nvSpPr>
        <p:spPr bwMode="auto">
          <a:xfrm>
            <a:off x="0" y="197373"/>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Conclusion</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71970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97D0B-AF94-65F2-3264-1113304F6A3F}"/>
              </a:ext>
            </a:extLst>
          </p:cNvPr>
          <p:cNvSpPr>
            <a:spLocks noGrp="1"/>
          </p:cNvSpPr>
          <p:nvPr>
            <p:ph idx="1"/>
          </p:nvPr>
        </p:nvSpPr>
        <p:spPr>
          <a:xfrm>
            <a:off x="0" y="1435608"/>
            <a:ext cx="12192000" cy="5422391"/>
          </a:xfrm>
        </p:spPr>
        <p:txBody>
          <a:bodyPr/>
          <a:lstStyle/>
          <a:p>
            <a:endParaRPr lang="en-US" dirty="0"/>
          </a:p>
        </p:txBody>
      </p:sp>
      <p:sp>
        <p:nvSpPr>
          <p:cNvPr id="4" name="Rectangle 1">
            <a:extLst>
              <a:ext uri="{FF2B5EF4-FFF2-40B4-BE49-F238E27FC236}">
                <a16:creationId xmlns:a16="http://schemas.microsoft.com/office/drawing/2014/main" id="{C176941C-D99C-9E41-0710-4433CD45037D}"/>
              </a:ext>
            </a:extLst>
          </p:cNvPr>
          <p:cNvSpPr>
            <a:spLocks noGrp="1" noChangeArrowheads="1"/>
          </p:cNvSpPr>
          <p:nvPr>
            <p:ph type="title"/>
          </p:nvPr>
        </p:nvSpPr>
        <p:spPr bwMode="auto">
          <a:xfrm>
            <a:off x="0" y="321593"/>
            <a:ext cx="12115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Dashboard </a:t>
            </a:r>
            <a:r>
              <a:rPr lang="en-US" altLang="en-US" b="1" dirty="0">
                <a:solidFill>
                  <a:srgbClr val="000000"/>
                </a:solidFill>
              </a:rPr>
              <a:t>Overv</a:t>
            </a:r>
            <a:r>
              <a:rPr kumimoji="0" lang="en-US" altLang="en-US" b="1" i="0" u="none" strike="noStrike" cap="none" normalizeH="0" baseline="0" dirty="0">
                <a:ln>
                  <a:noFill/>
                </a:ln>
                <a:solidFill>
                  <a:srgbClr val="000000"/>
                </a:solidFill>
                <a:effectLst/>
              </a:rPr>
              <a:t>iew</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33129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013E70-A163-2925-8EA7-4891B1F66AF2}"/>
              </a:ext>
            </a:extLst>
          </p:cNvPr>
          <p:cNvSpPr>
            <a:spLocks noGrp="1"/>
          </p:cNvSpPr>
          <p:nvPr>
            <p:ph idx="1"/>
          </p:nvPr>
        </p:nvSpPr>
        <p:spPr>
          <a:xfrm>
            <a:off x="0" y="1499616"/>
            <a:ext cx="12192000" cy="5358384"/>
          </a:xfrm>
        </p:spPr>
        <p:txBody>
          <a:bodyPr/>
          <a:lstStyle/>
          <a:p>
            <a:endParaRPr lang="en-US" dirty="0"/>
          </a:p>
        </p:txBody>
      </p:sp>
      <p:sp>
        <p:nvSpPr>
          <p:cNvPr id="4" name="Rectangle 1">
            <a:extLst>
              <a:ext uri="{FF2B5EF4-FFF2-40B4-BE49-F238E27FC236}">
                <a16:creationId xmlns:a16="http://schemas.microsoft.com/office/drawing/2014/main" id="{1C62DEDE-7638-C351-C828-FDAB9807F7C5}"/>
              </a:ext>
            </a:extLst>
          </p:cNvPr>
          <p:cNvSpPr>
            <a:spLocks noGrp="1" noChangeArrowheads="1"/>
          </p:cNvSpPr>
          <p:nvPr>
            <p:ph type="title"/>
          </p:nvPr>
        </p:nvSpPr>
        <p:spPr bwMode="auto">
          <a:xfrm>
            <a:off x="0" y="340519"/>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Business Impact &amp; Use Cases</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49863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0A6695-8D55-D21D-63E7-2EF82DE4FBF1}"/>
              </a:ext>
            </a:extLst>
          </p:cNvPr>
          <p:cNvSpPr>
            <a:spLocks noGrp="1"/>
          </p:cNvSpPr>
          <p:nvPr>
            <p:ph idx="1"/>
          </p:nvPr>
        </p:nvSpPr>
        <p:spPr>
          <a:xfrm>
            <a:off x="0" y="1417320"/>
            <a:ext cx="12192000" cy="5440680"/>
          </a:xfrm>
        </p:spPr>
        <p:txBody>
          <a:bodyPr/>
          <a:lstStyle/>
          <a:p>
            <a:endParaRPr lang="en-US" dirty="0"/>
          </a:p>
        </p:txBody>
      </p:sp>
      <p:sp>
        <p:nvSpPr>
          <p:cNvPr id="4" name="Rectangle 1">
            <a:extLst>
              <a:ext uri="{FF2B5EF4-FFF2-40B4-BE49-F238E27FC236}">
                <a16:creationId xmlns:a16="http://schemas.microsoft.com/office/drawing/2014/main" id="{CF502313-4D6D-0A90-03B4-11A26CEAA6E2}"/>
              </a:ext>
            </a:extLst>
          </p:cNvPr>
          <p:cNvSpPr>
            <a:spLocks noGrp="1" noChangeArrowheads="1"/>
          </p:cNvSpPr>
          <p:nvPr>
            <p:ph type="title"/>
          </p:nvPr>
        </p:nvSpPr>
        <p:spPr bwMode="auto">
          <a:xfrm>
            <a:off x="0" y="321593"/>
            <a:ext cx="1219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rPr>
              <a:t>🙏 Acknowledgements &amp; Contact</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16256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C801BD-CEAB-A136-42C4-54A3E2249B5E}"/>
              </a:ext>
            </a:extLst>
          </p:cNvPr>
          <p:cNvSpPr txBox="1">
            <a:spLocks/>
          </p:cNvSpPr>
          <p:nvPr/>
        </p:nvSpPr>
        <p:spPr>
          <a:xfrm>
            <a:off x="838200" y="365125"/>
            <a:ext cx="10515600" cy="53498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9600" b="1" dirty="0"/>
              <a:t>Thank You!</a:t>
            </a:r>
            <a:endParaRPr lang="en-US" sz="9600" dirty="0"/>
          </a:p>
        </p:txBody>
      </p:sp>
    </p:spTree>
    <p:extLst>
      <p:ext uri="{BB962C8B-B14F-4D97-AF65-F5344CB8AC3E}">
        <p14:creationId xmlns:p14="http://schemas.microsoft.com/office/powerpoint/2010/main" val="3736871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6831</TotalTime>
  <Words>203</Words>
  <Application>Microsoft Office PowerPoint</Application>
  <PresentationFormat>Widescreen</PresentationFormat>
  <Paragraphs>19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ApexMinds Technologies: Human Capital &amp; Employee Compensation Analysis</vt:lpstr>
      <vt:lpstr>🎯 Objective</vt:lpstr>
      <vt:lpstr>📘 Project Overview</vt:lpstr>
      <vt:lpstr>🗂️ Data Overview &amp; Schema</vt:lpstr>
      <vt:lpstr>💻 Tech Stack</vt:lpstr>
      <vt:lpstr>📈 Methodology &amp; Analysis</vt:lpstr>
      <vt:lpstr>❓ Problem Statement </vt:lpstr>
      <vt:lpstr>💡 Key Insights</vt:lpstr>
      <vt:lpstr>📍 Conclusion</vt:lpstr>
      <vt:lpstr>🖥️ Dashboard Overview</vt:lpstr>
      <vt:lpstr>✅ Business Impact &amp; Use Cases</vt:lpstr>
      <vt:lpstr>🙏 Acknowledgements &amp; Contact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Anik Chakraborty</dc:creator>
  <cp:lastModifiedBy>Anik Chakraborty</cp:lastModifiedBy>
  <cp:revision>5</cp:revision>
  <dcterms:created xsi:type="dcterms:W3CDTF">2025-10-10T09:43:10Z</dcterms:created>
  <dcterms:modified xsi:type="dcterms:W3CDTF">2025-11-03T14:50:48Z</dcterms:modified>
</cp:coreProperties>
</file>